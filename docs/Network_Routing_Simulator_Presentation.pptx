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64008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64008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64008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146304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146304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46304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228600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0" y="2286000"/>
            <a:ext cx="82296" cy="82296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65960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NETWORK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" y="2542032"/>
            <a:ext cx="10515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SIMULATOR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1248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Shortest-Path Routing with Dynamic Failure Recovery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1248" y="3913632"/>
            <a:ext cx="2926080" cy="0"/>
          </a:xfrm>
          <a:prstGeom prst="line">
            <a:avLst/>
          </a:prstGeom>
          <a:noFill/>
          <a:ln w="19050">
            <a:solidFill>
              <a:srgbClr val="1B8A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965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Computer Networks &amp; Mobile Computing  •  Network Simulation &amp; Routing Optimization  •  Advanced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GSSIPU  •  Semester 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 a network simulator that creates topologies, simulates routers, finds shortest paths, manages congestion, and updates routes dynamically.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108960" cy="640080"/>
          </a:xfrm>
          <a:prstGeom prst="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51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Network Topologies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931920" y="2651760"/>
            <a:ext cx="3108960" cy="640080"/>
          </a:xfrm>
          <a:prstGeom prst="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2651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 Routers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108960" cy="640080"/>
          </a:xfrm>
          <a:prstGeom prst="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74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Shortest Paths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31920" y="3474720"/>
            <a:ext cx="3108960" cy="640080"/>
          </a:xfrm>
          <a:prstGeom prst="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3474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Congestion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3108960" cy="640080"/>
          </a:xfrm>
          <a:prstGeom prst="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Routes Dynamically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31920" y="4297680"/>
            <a:ext cx="3108960" cy="640080"/>
          </a:xfrm>
          <a:prstGeom prst="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 Routing Protocols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1417320"/>
            <a:ext cx="4251960" cy="4709160"/>
          </a:xfrm>
          <a:prstGeom prst="rect">
            <a:avLst>
              <a:gd name="adj" fmla="val 1720"/>
            </a:avLst>
          </a:prstGeom>
          <a:solidFill>
            <a:srgbClr val="162C56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PROTOCOLS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2148840"/>
            <a:ext cx="3566160" cy="1051560"/>
          </a:xfrm>
          <a:prstGeom prst="rect">
            <a:avLst>
              <a:gd name="adj" fmla="val 6087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258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63840" y="26791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Hop count based routing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80960" y="3355848"/>
            <a:ext cx="3566160" cy="1051560"/>
          </a:xfrm>
          <a:prstGeom prst="rect">
            <a:avLst>
              <a:gd name="adj" fmla="val 6087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3465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OSPF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6384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Shortest-path algorithm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80960" y="4562856"/>
            <a:ext cx="3566160" cy="1051560"/>
          </a:xfrm>
          <a:prstGeom prst="rect">
            <a:avLst>
              <a:gd name="adj" fmla="val 6087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46725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BGP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863840" y="50932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 across the Internet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Network Routing Simulator  •  Advanced Computer Networks  •  GSSIPU Semester 7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1463040"/>
            <a:ext cx="3840480" cy="566928"/>
          </a:xfrm>
          <a:prstGeom prst="rect">
            <a:avLst>
              <a:gd name="adj" fmla="val 12903"/>
            </a:avLst>
          </a:prstGeom>
          <a:solidFill>
            <a:srgbClr val="DCF3F5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4630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NODES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2029968"/>
            <a:ext cx="0" cy="201168"/>
          </a:xfrm>
          <a:prstGeom prst="line">
            <a:avLst/>
          </a:prstGeom>
          <a:noFill/>
          <a:ln w="19050">
            <a:solidFill>
              <a:srgbClr val="1B8A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463040" y="2231136"/>
            <a:ext cx="3840480" cy="566928"/>
          </a:xfrm>
          <a:prstGeom prst="rect">
            <a:avLst>
              <a:gd name="adj" fmla="val 12903"/>
            </a:avLst>
          </a:prstGeom>
          <a:solidFill>
            <a:srgbClr val="DCF3F5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2311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ENGINE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798064"/>
            <a:ext cx="0" cy="201168"/>
          </a:xfrm>
          <a:prstGeom prst="line">
            <a:avLst/>
          </a:prstGeom>
          <a:noFill/>
          <a:ln w="19050">
            <a:solidFill>
              <a:srgbClr val="1B8A9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463040" y="2999232"/>
            <a:ext cx="3840480" cy="566928"/>
          </a:xfrm>
          <a:prstGeom prst="rect">
            <a:avLst>
              <a:gd name="adj" fmla="val 12903"/>
            </a:avLst>
          </a:prstGeom>
          <a:solidFill>
            <a:srgbClr val="DCF3F5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9992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CALCULATOR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3280" y="3566160"/>
            <a:ext cx="0" cy="201168"/>
          </a:xfrm>
          <a:prstGeom prst="line">
            <a:avLst/>
          </a:prstGeom>
          <a:noFill/>
          <a:ln w="19050">
            <a:solidFill>
              <a:srgbClr val="1B8A9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63040" y="3767328"/>
            <a:ext cx="3840480" cy="566928"/>
          </a:xfrm>
          <a:prstGeom prst="rect">
            <a:avLst>
              <a:gd name="adj" fmla="val 12903"/>
            </a:avLst>
          </a:prstGeom>
          <a:solidFill>
            <a:srgbClr val="DCF3F5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76732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TABLE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83280" y="4334256"/>
            <a:ext cx="0" cy="201168"/>
          </a:xfrm>
          <a:prstGeom prst="line">
            <a:avLst/>
          </a:prstGeom>
          <a:noFill/>
          <a:ln w="19050">
            <a:solidFill>
              <a:srgbClr val="1B8A9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463040" y="4535424"/>
            <a:ext cx="3840480" cy="566928"/>
          </a:xfrm>
          <a:prstGeom prst="rect">
            <a:avLst>
              <a:gd name="adj" fmla="val 12903"/>
            </a:avLst>
          </a:prstGeom>
          <a:solidFill>
            <a:srgbClr val="DCF3F5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5354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PACKET TRANSMISSION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83280" y="5102352"/>
            <a:ext cx="0" cy="201168"/>
          </a:xfrm>
          <a:prstGeom prst="line">
            <a:avLst/>
          </a:prstGeom>
          <a:noFill/>
          <a:ln w="19050">
            <a:solidFill>
              <a:srgbClr val="1B8A9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63040" y="5303520"/>
            <a:ext cx="3840480" cy="566928"/>
          </a:xfrm>
          <a:prstGeom prst="rect">
            <a:avLst>
              <a:gd name="adj" fmla="val 12903"/>
            </a:avLst>
          </a:prstGeom>
          <a:solidFill>
            <a:srgbClr val="162C56"/>
          </a:solidFill>
          <a:ln w="15240">
            <a:solidFill>
              <a:srgbClr val="162C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53035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Features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92240" y="2011680"/>
            <a:ext cx="5120640" cy="914400"/>
          </a:xfrm>
          <a:prstGeom prst="rect">
            <a:avLst>
              <a:gd name="adj" fmla="val 7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1214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Creation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24688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routers, switches, computers, servers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063240"/>
            <a:ext cx="5120640" cy="914400"/>
          </a:xfrm>
          <a:prstGeom prst="rect">
            <a:avLst>
              <a:gd name="adj" fmla="val 7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1729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Discovery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35204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shortest path and backup path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114800"/>
            <a:ext cx="5120640" cy="914400"/>
          </a:xfrm>
          <a:prstGeom prst="rect">
            <a:avLst>
              <a:gd name="adj" fmla="val 7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2245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Congestion Detection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45720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traffic load and packet delays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5166360"/>
            <a:ext cx="5120640" cy="914400"/>
          </a:xfrm>
          <a:prstGeom prst="rect">
            <a:avLst>
              <a:gd name="adj" fmla="val 7000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52760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Updates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56235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Automatically update routes on failure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Network Routing Simulator  •  Advanced Computer Networks  •  GSSIPU Semester 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Topology &amp; Routing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4480560"/>
          </a:xfrm>
          <a:prstGeom prst="rect">
            <a:avLst>
              <a:gd name="adj" fmla="val 1633"/>
            </a:avLst>
          </a:prstGeom>
          <a:solidFill>
            <a:srgbClr val="0A1220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01952" y="2816352"/>
            <a:ext cx="3291840" cy="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64992" y="24323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01952" y="2816352"/>
            <a:ext cx="0" cy="210312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93792" y="2816352"/>
            <a:ext cx="0" cy="210312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01952" y="4919472"/>
            <a:ext cx="3291840" cy="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45354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54480" y="2468880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46888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6888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54480" y="4572000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45720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4572000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5720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9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routers, weighted links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TABLE (from R-A)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965960"/>
            <a:ext cx="4846320" cy="457200"/>
          </a:xfrm>
          <a:prstGeom prst="rect">
            <a:avLst/>
          </a:prstGeom>
          <a:solidFill>
            <a:srgbClr val="162C56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Hop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60704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2423160"/>
            <a:ext cx="484632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423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Router B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0" y="2423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60704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66560" y="2926080"/>
            <a:ext cx="4846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926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Router 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44000" y="2926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607040" y="2926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766560" y="3429000"/>
            <a:ext cx="484632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C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Router 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44000" y="3429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60704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766560" y="4206240"/>
            <a:ext cx="4846320" cy="1463040"/>
          </a:xfrm>
          <a:prstGeom prst="rect">
            <a:avLst>
              <a:gd name="adj" fmla="val 4375"/>
            </a:avLst>
          </a:prstGeom>
          <a:solidFill>
            <a:srgbClr val="DCF3F5"/>
          </a:solidFill>
          <a:ln w="9525">
            <a:solidFill>
              <a:srgbClr val="1B8A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4370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path A → D: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95160" y="46817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 → D  (cost 5)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95160" y="50109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 via Dijkstra's shortest-path algorithm.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Network Routing Simulator  •  Advanced Computer Networks  •  GSSIPU Semester 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RECOVERY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Failure Simulation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FAILURE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246120"/>
          </a:xfrm>
          <a:prstGeom prst="rect">
            <a:avLst>
              <a:gd name="adj" fmla="val 2254"/>
            </a:avLst>
          </a:prstGeom>
          <a:solidFill>
            <a:srgbClr val="0A1220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2496312"/>
            <a:ext cx="2699309" cy="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8726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01952" y="2496312"/>
            <a:ext cx="0" cy="1724558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319399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01261" y="2496312"/>
            <a:ext cx="0" cy="1724558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0989" y="319399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01952" y="4220870"/>
            <a:ext cx="2699309" cy="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8726" y="383682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2148840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1488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53789" y="2148840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3789" y="21488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3873398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387339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53789" y="3873398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3789" y="387339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 A → B → D  (cost 5)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ROUTER B FAILS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828800"/>
            <a:ext cx="5394960" cy="3246120"/>
          </a:xfrm>
          <a:prstGeom prst="rect">
            <a:avLst>
              <a:gd name="adj" fmla="val 2254"/>
            </a:avLst>
          </a:prstGeom>
          <a:solidFill>
            <a:srgbClr val="0A1220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16952" y="2496312"/>
            <a:ext cx="2699309" cy="0"/>
          </a:xfrm>
          <a:prstGeom prst="line">
            <a:avLst/>
          </a:prstGeom>
          <a:noFill/>
          <a:ln w="19050">
            <a:solidFill>
              <a:srgbClr val="B23A3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783726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16952" y="2496312"/>
            <a:ext cx="0" cy="1724558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319399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16261" y="2496312"/>
            <a:ext cx="0" cy="1724558"/>
          </a:xfrm>
          <a:prstGeom prst="line">
            <a:avLst/>
          </a:prstGeom>
          <a:noFill/>
          <a:ln w="19050">
            <a:solidFill>
              <a:srgbClr val="B23A3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0425989" y="319399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16952" y="4220870"/>
            <a:ext cx="2699309" cy="0"/>
          </a:xfrm>
          <a:prstGeom prst="line">
            <a:avLst/>
          </a:prstGeom>
          <a:noFill/>
          <a:ln w="19050">
            <a:solidFill>
              <a:srgbClr val="B7C0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83726" y="383682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69480" y="2148840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21488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968789" y="2148840"/>
            <a:ext cx="694944" cy="694944"/>
          </a:xfrm>
          <a:prstGeom prst="ellipse">
            <a:avLst/>
          </a:prstGeom>
          <a:solidFill>
            <a:srgbClr val="F8DCDC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8789" y="21488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R-B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269480" y="3873398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387339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968789" y="3873398"/>
            <a:ext cx="694944" cy="694944"/>
          </a:xfrm>
          <a:prstGeom prst="ellipse">
            <a:avLst/>
          </a:prstGeom>
          <a:solidFill>
            <a:srgbClr val="DCF3F5"/>
          </a:solidFill>
          <a:ln w="19050">
            <a:solidFill>
              <a:srgbClr val="162C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8789" y="387339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37960" y="51206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Rerouted: A → C → D  (cost 5)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486400"/>
            <a:ext cx="11064240" cy="868680"/>
          </a:xfrm>
          <a:prstGeom prst="rect">
            <a:avLst>
              <a:gd name="adj" fmla="val 7368"/>
            </a:avLst>
          </a:prstGeom>
          <a:solidFill>
            <a:srgbClr val="DCF3F5"/>
          </a:solidFill>
          <a:ln w="9525">
            <a:solidFill>
              <a:srgbClr val="1B8A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exactly how OSPF behaves in production networks — when a router fails, the network automatically recomputes and converges on a new shortest path without manual intervention.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Network Routing Simulator  •  Advanced Computer Networks  •  GSSIPU Semester 7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Graph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4709160"/>
          </a:xfrm>
          <a:prstGeom prst="rect">
            <a:avLst>
              <a:gd name="adj" fmla="val 1359"/>
            </a:avLst>
          </a:prstGeom>
          <a:solidFill>
            <a:srgbClr val="0D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{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940357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'A': {'B': 2, 'C': 4},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189074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'B': {'A': 2, 'D': 3},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37790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'C': {'A': 4, 'D': 1},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86507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'D': {'B': 3, 'C': 1}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935224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183941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432658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show_routes():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681374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node in graph: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930091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print(node, "-&gt;", graph[node])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178808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427525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show_routes()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676242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924958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173675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-&gt; {'B': 2, 'C': 4}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422392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-&gt; {'A': 2, 'D': 3}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671109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 -&gt; {'A': 4, 'D': 1}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919826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 -&gt; {'B': 3, 'C': 1}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438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dict-of-dicts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43800" y="1975104"/>
            <a:ext cx="91440" cy="91440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8745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outer key is a router; each inner dict maps a neighbor to link cost.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2889504"/>
            <a:ext cx="91440" cy="91440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2788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adjacency-list form is the standard input to Dijkstra's algorithm.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3803904"/>
            <a:ext cx="91440" cy="91440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3703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calculator runs directly on this structure to find shortest paths.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3800" y="4718304"/>
            <a:ext cx="91440" cy="91440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617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Removing a router's key + its references simulates a network failure.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Network Routing Simulator  •  Advanced Computer Networks  •  GSSIPU Semester 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RELEVANCE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1B8A9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 Service Providers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1B8A9E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2423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Centers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routing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828800"/>
            <a:ext cx="457200" cy="457200"/>
          </a:xfrm>
          <a:prstGeom prst="rect">
            <a:avLst>
              <a:gd name="adj" fmla="val 14000"/>
            </a:avLst>
          </a:prstGeom>
          <a:solidFill>
            <a:srgbClr val="1B8A9E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0184" y="2423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Telecommunications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0184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networks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rect">
            <a:avLst>
              <a:gd name="adj" fmla="val 14000"/>
            </a:avLst>
          </a:prstGeom>
          <a:solidFill>
            <a:srgbClr val="1B8A9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communication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840480"/>
            <a:ext cx="3520440" cy="1920240"/>
          </a:xfrm>
          <a:prstGeom prst="rect">
            <a:avLst>
              <a:gd name="adj" fmla="val 4286"/>
            </a:avLst>
          </a:prstGeom>
          <a:solidFill>
            <a:srgbClr val="F6F8FB"/>
          </a:solidFill>
          <a:ln w="9525">
            <a:solidFill>
              <a:srgbClr val="DC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69080"/>
            <a:ext cx="457200" cy="457200"/>
          </a:xfrm>
          <a:prstGeom prst="rect">
            <a:avLst>
              <a:gd name="adj" fmla="val 14000"/>
            </a:avLst>
          </a:prstGeom>
          <a:solidFill>
            <a:srgbClr val="1B8A9E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53712" y="46634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Networks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monitoring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Network Routing Simulator  •  Advanced Computer Networks  •  GSSIPU Semester 7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2591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7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463040"/>
          </a:xfrm>
          <a:prstGeom prst="rect">
            <a:avLst>
              <a:gd name="adj" fmla="val 5000"/>
            </a:avLst>
          </a:prstGeom>
          <a:solidFill>
            <a:srgbClr val="1E3358"/>
          </a:solidFill>
          <a:ln w="9525">
            <a:solidFill>
              <a:srgbClr val="3A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Dynamic Network Routing Simulator was successfully developed to simulate routers, routing tables, shortest-path calculations, and network failure recovery, demonstrating real-world routing protocol concepts.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91440" cy="91440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770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Networks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70832"/>
            <a:ext cx="91440" cy="91440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611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Protocols (OSPF, RIP)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91440" cy="91440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451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Algorithms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38928"/>
            <a:ext cx="91440" cy="91440"/>
          </a:xfrm>
          <a:prstGeom prst="ellipse">
            <a:avLst/>
          </a:prstGeom>
          <a:solidFill>
            <a:srgbClr val="1B8A9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Optimization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Network Routing Simulator — Advanced Networks Mini Project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Mayank Swaraj  |  GSSIPU Semester 7  |  github.com/mayankswaraj18cr-cmd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2026-08-21T07:29:12Z</dcterms:created>
  <dcterms:modified xsi:type="dcterms:W3CDTF">2026-08-21T07:29:12Z</dcterms:modified>
</cp:coreProperties>
</file>